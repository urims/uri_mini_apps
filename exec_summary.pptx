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B6A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Weighted Average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Agreement Forecasting via Weighted Average Escalation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forecasts future Purchase Agreement (PA) costs by computing weighted averages of historical IMPACT data under multiple methodologies, then projecting forward using step escalation.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508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154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880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Clean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active + history 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filter PSC &amp; suffix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2743200"/>
            <a:ext cx="146304" cy="1463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30552" y="1920240"/>
            <a:ext cx="1508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564892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052" y="22402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30552" y="2880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130552" y="324612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part/PO,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duration &amp; value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2743200"/>
            <a:ext cx="146304" cy="14630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803904" y="1920240"/>
            <a:ext cx="1508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238244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404" y="224028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03904" y="2880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&amp; Average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3803904" y="324612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approaches compute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 duration &amp; value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2743200"/>
            <a:ext cx="146304" cy="14630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77256" y="1920240"/>
            <a:ext cx="1508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5911596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756" y="2240280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477256" y="2880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Rank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5477256" y="324612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MAD-based deviation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ranks approaches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5160" y="2743200"/>
            <a:ext cx="146304" cy="14630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7150608" y="1920240"/>
            <a:ext cx="1508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7584948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2108" y="2240280"/>
            <a:ext cx="365760" cy="3657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150608" y="2880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7150608" y="324612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Step-escalation generates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PAs per approach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457200" y="4572000"/>
            <a:ext cx="8229600" cy="45720"/>
          </a:xfrm>
          <a:prstGeom prst="rect">
            <a:avLst/>
          </a:prstGeom>
          <a:solidFill>
            <a:srgbClr val="DEE5ED"/>
          </a:solidFill>
          <a:ln/>
        </p:spPr>
      </p:sp>
      <p:sp>
        <p:nvSpPr>
          <p:cNvPr id="34" name="Text 23"/>
          <p:cNvSpPr/>
          <p:nvPr/>
        </p:nvSpPr>
        <p:spPr>
          <a:xfrm>
            <a:off x="4572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35" name="Text 24"/>
          <p:cNvSpPr/>
          <p:nvPr/>
        </p:nvSpPr>
        <p:spPr>
          <a:xfrm>
            <a:off x="457200" y="4937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Numbers</a:t>
            </a:r>
            <a:endParaRPr lang="en-US" sz="1000" dirty="0"/>
          </a:p>
        </p:txBody>
      </p:sp>
      <p:sp>
        <p:nvSpPr>
          <p:cNvPr id="36" name="Text 25"/>
          <p:cNvSpPr/>
          <p:nvPr/>
        </p:nvSpPr>
        <p:spPr>
          <a:xfrm>
            <a:off x="25146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7" name="Text 26"/>
          <p:cNvSpPr/>
          <p:nvPr/>
        </p:nvSpPr>
        <p:spPr>
          <a:xfrm>
            <a:off x="2514600" y="4937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</a:t>
            </a:r>
            <a:endParaRPr lang="en-US" sz="1000" dirty="0"/>
          </a:p>
        </p:txBody>
      </p:sp>
      <p:sp>
        <p:nvSpPr>
          <p:cNvPr id="38" name="Text 27"/>
          <p:cNvSpPr/>
          <p:nvPr/>
        </p:nvSpPr>
        <p:spPr>
          <a:xfrm>
            <a:off x="45720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2600" dirty="0"/>
          </a:p>
        </p:txBody>
      </p:sp>
      <p:sp>
        <p:nvSpPr>
          <p:cNvPr id="39" name="Text 28"/>
          <p:cNvSpPr/>
          <p:nvPr/>
        </p:nvSpPr>
        <p:spPr>
          <a:xfrm>
            <a:off x="4572000" y="4937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PAs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66294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</a:t>
            </a:r>
            <a:endParaRPr lang="en-US" sz="2600" dirty="0"/>
          </a:p>
        </p:txBody>
      </p:sp>
      <p:sp>
        <p:nvSpPr>
          <p:cNvPr id="41" name="Text 30"/>
          <p:cNvSpPr/>
          <p:nvPr/>
        </p:nvSpPr>
        <p:spPr>
          <a:xfrm>
            <a:off x="6629400" y="4937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Forecasted PAs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Transformation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96012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960120"/>
            <a:ext cx="54864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960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Ingestion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960120"/>
            <a:ext cx="51206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IMPACT PA Active and PA History files, concatenate into a single DataFrame.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173736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88720" y="1737360"/>
            <a:ext cx="54864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1737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Filtering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737360"/>
            <a:ext cx="51206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records with unit_price ≤ 0. Drop make parts. Keep only blank suffix codes and valid PSC (PFM, PSE, PSA, RMA).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8720" y="251460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88720" y="2514600"/>
            <a:ext cx="54864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Imputation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514600"/>
            <a:ext cx="51206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YMD strings to datetime. Fix missing price_from (use place_beg_dt) and price_to (use place_end_dt). Remove invalid date ranges.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88720" y="329184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188720" y="3291840"/>
            <a:ext cx="54864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1417320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Computation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291840"/>
            <a:ext cx="51206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qty = pa_max_mil + pa_max_com. Calculate value = unit_price × qty. Recalculate unit_price = value / qty.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88720" y="406908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88720" y="4069080"/>
            <a:ext cx="54864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1417320" y="4069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069080"/>
            <a:ext cx="51206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(part_number, po_number). Compute duration, first/last observed prices, total qty, and total value per PO.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Average Approaches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methodologies compute weighted average PA duration and value per part number.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6217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1362456"/>
            <a:ext cx="1645920" cy="347472"/>
          </a:xfrm>
          <a:prstGeom prst="rect">
            <a:avLst/>
          </a:prstGeom>
          <a:solidFill>
            <a:srgbClr val="E8F6F3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3624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2 PAs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1234440"/>
            <a:ext cx="420624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penultimate and last PA observations. Duration = average of last 2; value = penultimate change.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6596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659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0" y="2093976"/>
            <a:ext cx="1645920" cy="347472"/>
          </a:xfrm>
          <a:prstGeom prst="rect">
            <a:avLst/>
          </a:prstGeom>
          <a:solidFill>
            <a:srgbClr val="E8F6F3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20939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1/n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965960"/>
            <a:ext cx="420624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contracts receive identical weight regardless of size, cost, or recency.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97480"/>
            <a:ext cx="73152" cy="6217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9748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Decay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68880" y="2825496"/>
            <a:ext cx="1645920" cy="347472"/>
          </a:xfrm>
          <a:prstGeom prst="rect">
            <a:avLst/>
          </a:prstGeom>
          <a:solidFill>
            <a:srgbClr val="E8F6F3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28254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e^(−λ·days)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2697480"/>
            <a:ext cx="420624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decay gives recent contracts more influence. Tunable λ parameter.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429000"/>
            <a:ext cx="73152" cy="621792"/>
          </a:xfrm>
          <a:prstGeom prst="rect">
            <a:avLst/>
          </a:prstGeom>
          <a:solidFill>
            <a:srgbClr val="21B6A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42900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Weighted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468880" y="3557016"/>
            <a:ext cx="1645920" cy="347472"/>
          </a:xfrm>
          <a:prstGeom prst="rect">
            <a:avLst/>
          </a:prstGeom>
          <a:solidFill>
            <a:srgbClr val="E8F6F3"/>
          </a:solidFill>
          <a:ln/>
        </p:spPr>
      </p:sp>
      <p:sp>
        <p:nvSpPr>
          <p:cNvPr id="26" name="Text 24"/>
          <p:cNvSpPr/>
          <p:nvPr/>
        </p:nvSpPr>
        <p:spPr>
          <a:xfrm>
            <a:off x="2468880" y="35570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total_cost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0" y="3429000"/>
            <a:ext cx="420624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weighted by total expenditure (price × volume). Financial impact drives influence.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160520"/>
            <a:ext cx="73152" cy="62179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16052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468880" y="4288536"/>
            <a:ext cx="1645920" cy="347472"/>
          </a:xfrm>
          <a:prstGeom prst="rect">
            <a:avLst/>
          </a:prstGeom>
          <a:solidFill>
            <a:srgbClr val="E8F6F3"/>
          </a:solidFill>
          <a:ln/>
        </p:spPr>
      </p:sp>
      <p:sp>
        <p:nvSpPr>
          <p:cNvPr id="32" name="Text 30"/>
          <p:cNvSpPr/>
          <p:nvPr/>
        </p:nvSpPr>
        <p:spPr>
          <a:xfrm>
            <a:off x="2468880" y="42885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cost × e^(−λ·days)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97680" y="4160520"/>
            <a:ext cx="420624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cost weighting with time decay. Balances recency and financial magnitude.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Selection: Variability Scoring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approach, compute the annual escalation rate per part.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31343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2677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population median and MAD (Median Absolute Deviation) of annual rates across all parts.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02666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98094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deviation score: |x − median| / (1.4826 × MAD). This is analogous to a z-score but robust to outliers.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73989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69417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approaches per part: lowest deviation score = rank 1 (recommended).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023360" cy="16459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B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Principle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deviation score = less variability relative to the population. The recommended approach is the one whose annual rate is closest to the median behavior of all parts.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Deviation Score Formula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deviation = |x − median| / (1.4826 × MAD)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MAD = median(|xi − median(x)|)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1.4826 scaling factor makes this directly comparable to standard deviation for normal distributions.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Artifacts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8412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124712"/>
            <a:ext cx="1188720" cy="256032"/>
          </a:xfrm>
          <a:prstGeom prst="rect">
            <a:avLst/>
          </a:prstGeom>
          <a:solidFill>
            <a:srgbClr val="E8F6F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24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impact_pa_and_history_pa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124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parts × 32 PA rows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0" y="1005840"/>
            <a:ext cx="438912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aggregated PA data grouped by (part_number, po_number). Contains duration, unit price, total quantity and value.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84248"/>
            <a:ext cx="54864" cy="8412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103120"/>
            <a:ext cx="1188720" cy="256032"/>
          </a:xfrm>
          <a:prstGeom prst="rect">
            <a:avLst/>
          </a:prstGeom>
          <a:solidFill>
            <a:srgbClr val="E8F6F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wgt_avg_results_per_part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parts × 5 approaches = 45 rows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1984248"/>
            <a:ext cx="438912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duration, value, escalation rate, deviation score, and variability ranking per approach per part.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62656"/>
            <a:ext cx="54864" cy="841248"/>
          </a:xfrm>
          <a:prstGeom prst="rect">
            <a:avLst/>
          </a:prstGeom>
          <a:solidFill>
            <a:srgbClr val="21B6A8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81528"/>
            <a:ext cx="1188720" cy="256032"/>
          </a:xfrm>
          <a:prstGeom prst="rect">
            <a:avLst/>
          </a:prstGeom>
          <a:solidFill>
            <a:srgbClr val="E8F6F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081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pa_step_escalation_prediction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3081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parts × 5 approaches × n PAs = 92 rows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2962656"/>
            <a:ext cx="438912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PAs generated via step escalation. Each row is a predicted PA with start/end dates, cost, and approach metadata.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941064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41064"/>
            <a:ext cx="54864" cy="84124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059936"/>
            <a:ext cx="1188720" cy="256032"/>
          </a:xfrm>
          <a:prstGeom prst="rect">
            <a:avLst/>
          </a:prstGeom>
          <a:solidFill>
            <a:srgbClr val="E8F6F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0599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4379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weight_assigment_explainability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03120" y="4059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rows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3941064"/>
            <a:ext cx="438912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 of weight assignments. Shows each contract's weight, percentage, and contribution to the weighted average.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Interpret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Practices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'least variability ranking = 1' as the default recommended approach per part.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the explainability file to understand why a particular approach was ranked highest.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deviation scores: values &lt; 1.0 indicate the annual rate is within one MAD of the median.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historical data file to validate the number and quality of source PAs.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3703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annual_rate to understand the yearly price trend implied by each approach.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9601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Pitfalls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15087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blindly select the approach with the lowest cost forecast; the ranking is about statistical consistency.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937760" y="21488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using Baseline for parts with &lt; 3 historical PAs; it may amplify noise from limited data.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37760" y="2788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ignore very high deviation scores (&gt;5); these signal outlier behavior for that approach.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37760" y="34290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compare deviation scores across parts; they are meaningful only within a part's set of approaches.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B6A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Weighted Average Escalation framework provides a robust, multi-approach methodology for forecasting future PA costs. By evaluating five distinct weighting strategies and ranking them via MAD-based variability scoring, the system recommends the most statistically consistent approach for each part number, supporting data-driven procurement decisions.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 methodology and interpretation guidelines, refer to the accompanying Word document.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Weighted Average Approaches – Executive Summary</dc:title>
  <dc:subject>PptxGenJS Presentation</dc:subject>
  <dc:creator>Weighted Average Analysis Team</dc:creator>
  <cp:lastModifiedBy>Weighted Average Analysis Team</cp:lastModifiedBy>
  <cp:revision>1</cp:revision>
  <dcterms:created xsi:type="dcterms:W3CDTF">2026-02-16T23:38:52Z</dcterms:created>
  <dcterms:modified xsi:type="dcterms:W3CDTF">2026-02-16T23:38:52Z</dcterms:modified>
</cp:coreProperties>
</file>